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Nunito"/>
      <p:regular r:id="rId33"/>
      <p:bold r:id="rId34"/>
      <p:italic r:id="rId35"/>
      <p:boldItalic r:id="rId36"/>
    </p:embeddedFont>
    <p:embeddedFont>
      <p:font typeface="Maven Pro"/>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unit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Nunito-italic.fntdata"/><Relationship Id="rId12" Type="http://schemas.openxmlformats.org/officeDocument/2006/relationships/slide" Target="slides/slide7.xml"/><Relationship Id="rId34" Type="http://schemas.openxmlformats.org/officeDocument/2006/relationships/font" Target="fonts/Nunito-bold.fntdata"/><Relationship Id="rId15" Type="http://schemas.openxmlformats.org/officeDocument/2006/relationships/slide" Target="slides/slide10.xml"/><Relationship Id="rId37" Type="http://schemas.openxmlformats.org/officeDocument/2006/relationships/font" Target="fonts/MavenPro-regular.fntdata"/><Relationship Id="rId14" Type="http://schemas.openxmlformats.org/officeDocument/2006/relationships/slide" Target="slides/slide9.xml"/><Relationship Id="rId36" Type="http://schemas.openxmlformats.org/officeDocument/2006/relationships/font" Target="fonts/Nunito-boldItalic.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MavenPr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e0fd6d3a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e0fd6d3a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e0fd6d3a5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e0fd6d3a5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e0fd6d3a5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e0fd6d3a5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e0fd6d3a5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e0fd6d3a5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e0fd6d3a5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e0fd6d3a5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e0fd6d3a5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e0fd6d3a5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e0fd6d3a5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e0fd6d3a5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e0fd6d3a5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e0fd6d3a5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e0fd6d3a5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e0fd6d3a5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e0fd6d3a5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e0fd6d3a5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Document is the text of the news article it is </a:t>
            </a:r>
            <a:r>
              <a:rPr lang="en"/>
              <a:t>usually</a:t>
            </a:r>
            <a:r>
              <a:rPr lang="en"/>
              <a:t> very short text average </a:t>
            </a:r>
            <a:r>
              <a:rPr lang="en"/>
              <a:t>characters in the document is around  characters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e0fd6d3a5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e0fd6d3a5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e0fd6d3a5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e0fd6d3a5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e0fd6d3a5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e0fd6d3a5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e0fd6d3a5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e0fd6d3a5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e0fd6d3a5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e0fd6d3a5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e0fd6d3a5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e0fd6d3a5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e0fd6d3a58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e0fd6d3a58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e0fd6d3a5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e0fd6d3a5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e0fd6d3a5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e0fd6d3a5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e0fd6d3a5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e0fd6d3a5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e0fd6d3a5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e0fd6d3a5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e0fd6d3a58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e0fd6d3a5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e0fd6d3a58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e0fd6d3a58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e0fd6d3a58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e0fd6d3a58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e0fd6d3a58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e0fd6d3a58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e0fd6d3a58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e0fd6d3a58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e0fd6d3a58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e0fd6d3a58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563341" y="1"/>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1600"/>
              </a:spcBef>
              <a:spcAft>
                <a:spcPts val="0"/>
              </a:spcAft>
              <a:buClr>
                <a:schemeClr val="lt1"/>
              </a:buClr>
              <a:buSzPts val="1100"/>
              <a:buChar char="○"/>
              <a:defRPr>
                <a:solidFill>
                  <a:schemeClr val="lt1"/>
                </a:solidFill>
              </a:defRPr>
            </a:lvl2pPr>
            <a:lvl3pPr indent="-298450" lvl="2" marL="1371600" algn="ctr">
              <a:spcBef>
                <a:spcPts val="1600"/>
              </a:spcBef>
              <a:spcAft>
                <a:spcPts val="0"/>
              </a:spcAft>
              <a:buClr>
                <a:schemeClr val="lt1"/>
              </a:buClr>
              <a:buSzPts val="1100"/>
              <a:buChar char="■"/>
              <a:defRPr>
                <a:solidFill>
                  <a:schemeClr val="lt1"/>
                </a:solidFill>
              </a:defRPr>
            </a:lvl3pPr>
            <a:lvl4pPr indent="-298450" lvl="3" marL="1828800" algn="ctr">
              <a:spcBef>
                <a:spcPts val="1600"/>
              </a:spcBef>
              <a:spcAft>
                <a:spcPts val="0"/>
              </a:spcAft>
              <a:buClr>
                <a:schemeClr val="lt1"/>
              </a:buClr>
              <a:buSzPts val="1100"/>
              <a:buChar char="●"/>
              <a:defRPr>
                <a:solidFill>
                  <a:schemeClr val="lt1"/>
                </a:solidFill>
              </a:defRPr>
            </a:lvl4pPr>
            <a:lvl5pPr indent="-298450" lvl="4" marL="2286000" algn="ctr">
              <a:spcBef>
                <a:spcPts val="1600"/>
              </a:spcBef>
              <a:spcAft>
                <a:spcPts val="0"/>
              </a:spcAft>
              <a:buClr>
                <a:schemeClr val="lt1"/>
              </a:buClr>
              <a:buSzPts val="1100"/>
              <a:buChar char="○"/>
              <a:defRPr>
                <a:solidFill>
                  <a:schemeClr val="lt1"/>
                </a:solidFill>
              </a:defRPr>
            </a:lvl5pPr>
            <a:lvl6pPr indent="-298450" lvl="5" marL="2743200" algn="ctr">
              <a:spcBef>
                <a:spcPts val="1600"/>
              </a:spcBef>
              <a:spcAft>
                <a:spcPts val="0"/>
              </a:spcAft>
              <a:buClr>
                <a:schemeClr val="lt1"/>
              </a:buClr>
              <a:buSzPts val="1100"/>
              <a:buChar char="■"/>
              <a:defRPr>
                <a:solidFill>
                  <a:schemeClr val="lt1"/>
                </a:solidFill>
              </a:defRPr>
            </a:lvl6pPr>
            <a:lvl7pPr indent="-298450" lvl="6" marL="3200400" algn="ctr">
              <a:spcBef>
                <a:spcPts val="1600"/>
              </a:spcBef>
              <a:spcAft>
                <a:spcPts val="0"/>
              </a:spcAft>
              <a:buClr>
                <a:schemeClr val="lt1"/>
              </a:buClr>
              <a:buSzPts val="1100"/>
              <a:buChar char="●"/>
              <a:defRPr>
                <a:solidFill>
                  <a:schemeClr val="lt1"/>
                </a:solidFill>
              </a:defRPr>
            </a:lvl7pPr>
            <a:lvl8pPr indent="-298450" lvl="7" marL="3657600" algn="ctr">
              <a:spcBef>
                <a:spcPts val="1600"/>
              </a:spcBef>
              <a:spcAft>
                <a:spcPts val="0"/>
              </a:spcAft>
              <a:buClr>
                <a:schemeClr val="lt1"/>
              </a:buClr>
              <a:buSzPts val="1100"/>
              <a:buChar char="○"/>
              <a:defRPr>
                <a:solidFill>
                  <a:schemeClr val="lt1"/>
                </a:solidFill>
              </a:defRPr>
            </a:lvl8pPr>
            <a:lvl9pPr indent="-298450" lvl="8" marL="4114800" algn="ctr">
              <a:spcBef>
                <a:spcPts val="1600"/>
              </a:spcBef>
              <a:spcAft>
                <a:spcPts val="160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bg>
      <p:bgPr>
        <a:solidFill>
          <a:srgbClr val="FFFFFF"/>
        </a:solidFill>
      </p:bgPr>
    </p:bg>
    <p:spTree>
      <p:nvGrpSpPr>
        <p:cNvPr id="273" name="Shape 273"/>
        <p:cNvGrpSpPr/>
        <p:nvPr/>
      </p:nvGrpSpPr>
      <p:grpSpPr>
        <a:xfrm>
          <a:off x="0" y="0"/>
          <a:ext cx="0" cy="0"/>
          <a:chOff x="0" y="0"/>
          <a:chExt cx="0" cy="0"/>
        </a:xfrm>
      </p:grpSpPr>
      <p:sp>
        <p:nvSpPr>
          <p:cNvPr id="274" name="Google Shape;274;p13"/>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 name="Google Shape;275;p13"/>
          <p:cNvGrpSpPr/>
          <p:nvPr/>
        </p:nvGrpSpPr>
        <p:grpSpPr>
          <a:xfrm>
            <a:off x="2" y="4713898"/>
            <a:ext cx="3047923" cy="429600"/>
            <a:chOff x="-73" y="4713898"/>
            <a:chExt cx="3047923" cy="429600"/>
          </a:xfrm>
        </p:grpSpPr>
        <p:sp>
          <p:nvSpPr>
            <p:cNvPr id="276" name="Google Shape;276;p13"/>
            <p:cNvSpPr/>
            <p:nvPr/>
          </p:nvSpPr>
          <p:spPr>
            <a:xfrm rot="-5400000">
              <a:off x="2452050" y="4547698"/>
              <a:ext cx="429600" cy="762000"/>
            </a:xfrm>
            <a:prstGeom prst="rtTriangl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p:nvPr/>
          </p:nvSpPr>
          <p:spPr>
            <a:xfrm rot="-5400000">
              <a:off x="928119" y="4547698"/>
              <a:ext cx="429600" cy="7620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
            <p:cNvSpPr/>
            <p:nvPr/>
          </p:nvSpPr>
          <p:spPr>
            <a:xfrm flipH="1" rot="5400000">
              <a:off x="1689952" y="4547698"/>
              <a:ext cx="429600" cy="7620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flipH="1" rot="5400000">
              <a:off x="166127" y="4547698"/>
              <a:ext cx="429600" cy="7620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 name="Google Shape;280;p13"/>
          <p:cNvSpPr/>
          <p:nvPr/>
        </p:nvSpPr>
        <p:spPr>
          <a:xfrm>
            <a:off x="3047650" y="0"/>
            <a:ext cx="60963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txBox="1"/>
          <p:nvPr>
            <p:ph type="title"/>
          </p:nvPr>
        </p:nvSpPr>
        <p:spPr>
          <a:xfrm>
            <a:off x="185350" y="352000"/>
            <a:ext cx="2683200" cy="40788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None/>
              <a:defRPr b="1" sz="3000">
                <a:solidFill>
                  <a:srgbClr val="212121"/>
                </a:solidFill>
              </a:defRPr>
            </a:lvl1pPr>
            <a:lvl2pPr lvl="1" algn="l">
              <a:lnSpc>
                <a:spcPct val="100000"/>
              </a:lnSpc>
              <a:spcBef>
                <a:spcPts val="0"/>
              </a:spcBef>
              <a:spcAft>
                <a:spcPts val="0"/>
              </a:spcAft>
              <a:buNone/>
              <a:defRPr b="1" sz="3000">
                <a:solidFill>
                  <a:srgbClr val="212121"/>
                </a:solidFill>
              </a:defRPr>
            </a:lvl2pPr>
            <a:lvl3pPr lvl="2" algn="l">
              <a:lnSpc>
                <a:spcPct val="100000"/>
              </a:lnSpc>
              <a:spcBef>
                <a:spcPts val="0"/>
              </a:spcBef>
              <a:spcAft>
                <a:spcPts val="0"/>
              </a:spcAft>
              <a:buNone/>
              <a:defRPr b="1" sz="3000">
                <a:solidFill>
                  <a:srgbClr val="212121"/>
                </a:solidFill>
              </a:defRPr>
            </a:lvl3pPr>
            <a:lvl4pPr lvl="3" algn="l">
              <a:lnSpc>
                <a:spcPct val="100000"/>
              </a:lnSpc>
              <a:spcBef>
                <a:spcPts val="0"/>
              </a:spcBef>
              <a:spcAft>
                <a:spcPts val="0"/>
              </a:spcAft>
              <a:buNone/>
              <a:defRPr b="1" sz="3000">
                <a:solidFill>
                  <a:srgbClr val="212121"/>
                </a:solidFill>
              </a:defRPr>
            </a:lvl4pPr>
            <a:lvl5pPr lvl="4" algn="l">
              <a:lnSpc>
                <a:spcPct val="100000"/>
              </a:lnSpc>
              <a:spcBef>
                <a:spcPts val="0"/>
              </a:spcBef>
              <a:spcAft>
                <a:spcPts val="0"/>
              </a:spcAft>
              <a:buNone/>
              <a:defRPr b="1" sz="3000">
                <a:solidFill>
                  <a:srgbClr val="212121"/>
                </a:solidFill>
              </a:defRPr>
            </a:lvl5pPr>
            <a:lvl6pPr lvl="5" algn="l">
              <a:lnSpc>
                <a:spcPct val="100000"/>
              </a:lnSpc>
              <a:spcBef>
                <a:spcPts val="0"/>
              </a:spcBef>
              <a:spcAft>
                <a:spcPts val="0"/>
              </a:spcAft>
              <a:buNone/>
              <a:defRPr b="1" sz="3000">
                <a:solidFill>
                  <a:srgbClr val="212121"/>
                </a:solidFill>
              </a:defRPr>
            </a:lvl6pPr>
            <a:lvl7pPr lvl="6" algn="l">
              <a:lnSpc>
                <a:spcPct val="100000"/>
              </a:lnSpc>
              <a:spcBef>
                <a:spcPts val="0"/>
              </a:spcBef>
              <a:spcAft>
                <a:spcPts val="0"/>
              </a:spcAft>
              <a:buNone/>
              <a:defRPr b="1" sz="3000">
                <a:solidFill>
                  <a:srgbClr val="212121"/>
                </a:solidFill>
              </a:defRPr>
            </a:lvl7pPr>
            <a:lvl8pPr lvl="7" algn="l">
              <a:lnSpc>
                <a:spcPct val="100000"/>
              </a:lnSpc>
              <a:spcBef>
                <a:spcPts val="0"/>
              </a:spcBef>
              <a:spcAft>
                <a:spcPts val="0"/>
              </a:spcAft>
              <a:buNone/>
              <a:defRPr b="1" sz="3000">
                <a:solidFill>
                  <a:srgbClr val="212121"/>
                </a:solidFill>
              </a:defRPr>
            </a:lvl8pPr>
            <a:lvl9pPr lvl="8" algn="l">
              <a:lnSpc>
                <a:spcPct val="100000"/>
              </a:lnSpc>
              <a:spcBef>
                <a:spcPts val="0"/>
              </a:spcBef>
              <a:spcAft>
                <a:spcPts val="0"/>
              </a:spcAft>
              <a:buNone/>
              <a:defRPr b="1" sz="3000">
                <a:solidFill>
                  <a:srgbClr val="212121"/>
                </a:solidFill>
              </a:defRPr>
            </a:lvl9pPr>
          </a:lstStyle>
          <a:p/>
        </p:txBody>
      </p:sp>
      <p:sp>
        <p:nvSpPr>
          <p:cNvPr id="282" name="Google Shape;282;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3.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4"/>
          <p:cNvSpPr txBox="1"/>
          <p:nvPr>
            <p:ph type="ctrTitle"/>
          </p:nvPr>
        </p:nvSpPr>
        <p:spPr>
          <a:xfrm>
            <a:off x="850500" y="496925"/>
            <a:ext cx="4559400" cy="298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Heterogeneous Graph Attention Network for semi-supervised News Classification</a:t>
            </a:r>
            <a:endParaRPr/>
          </a:p>
        </p:txBody>
      </p:sp>
      <p:sp>
        <p:nvSpPr>
          <p:cNvPr id="288" name="Google Shape;288;p14"/>
          <p:cNvSpPr txBox="1"/>
          <p:nvPr>
            <p:ph idx="1" type="subTitle"/>
          </p:nvPr>
        </p:nvSpPr>
        <p:spPr>
          <a:xfrm>
            <a:off x="824000" y="3596300"/>
            <a:ext cx="4255500" cy="114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EFEFEF"/>
                </a:solidFill>
              </a:rPr>
              <a:t>Thesis  Mid-Term Presentation</a:t>
            </a:r>
            <a:br>
              <a:rPr lang="en"/>
            </a:br>
            <a:br>
              <a:rPr lang="en"/>
            </a:br>
            <a:r>
              <a:rPr b="1" lang="en"/>
              <a:t>Sujil Devkota</a:t>
            </a:r>
            <a:endParaRPr b="1"/>
          </a:p>
          <a:p>
            <a:pPr indent="0" lvl="0" marL="0" rtl="0" algn="l">
              <a:spcBef>
                <a:spcPts val="0"/>
              </a:spcBef>
              <a:spcAft>
                <a:spcPts val="0"/>
              </a:spcAft>
              <a:buNone/>
            </a:pPr>
            <a:r>
              <a:rPr lang="en"/>
              <a:t>074/MSCSKE/013</a:t>
            </a:r>
            <a:endParaRPr/>
          </a:p>
        </p:txBody>
      </p:sp>
      <p:sp>
        <p:nvSpPr>
          <p:cNvPr id="289" name="Google Shape;289;p14"/>
          <p:cNvSpPr txBox="1"/>
          <p:nvPr/>
        </p:nvSpPr>
        <p:spPr>
          <a:xfrm>
            <a:off x="6328350" y="3943225"/>
            <a:ext cx="2661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rgbClr val="FFFFFF"/>
                </a:solidFill>
                <a:latin typeface="Nunito"/>
                <a:ea typeface="Nunito"/>
                <a:cs typeface="Nunito"/>
                <a:sym typeface="Nunito"/>
              </a:rPr>
              <a:t>Supervisor</a:t>
            </a:r>
            <a:endParaRPr>
              <a:solidFill>
                <a:srgbClr val="FFFFFF"/>
              </a:solidFill>
              <a:latin typeface="Nunito"/>
              <a:ea typeface="Nunito"/>
              <a:cs typeface="Nunito"/>
              <a:sym typeface="Nunito"/>
            </a:endParaRPr>
          </a:p>
          <a:p>
            <a:pPr indent="0" lvl="0" marL="0" rtl="0" algn="l">
              <a:spcBef>
                <a:spcPts val="0"/>
              </a:spcBef>
              <a:spcAft>
                <a:spcPts val="0"/>
              </a:spcAft>
              <a:buNone/>
            </a:pPr>
            <a:br>
              <a:rPr lang="en">
                <a:solidFill>
                  <a:srgbClr val="FFFFFF"/>
                </a:solidFill>
                <a:latin typeface="Nunito"/>
                <a:ea typeface="Nunito"/>
                <a:cs typeface="Nunito"/>
                <a:sym typeface="Nunito"/>
              </a:rPr>
            </a:br>
            <a:r>
              <a:rPr lang="en">
                <a:solidFill>
                  <a:srgbClr val="FFFFFF"/>
                </a:solidFill>
                <a:latin typeface="Nunito"/>
                <a:ea typeface="Nunito"/>
                <a:cs typeface="Nunito"/>
                <a:sym typeface="Nunito"/>
              </a:rPr>
              <a:t>Dr. Aman Shakya</a:t>
            </a:r>
            <a:endParaRPr>
              <a:solidFill>
                <a:srgbClr val="FFFFFF"/>
              </a:solidFill>
              <a:latin typeface="Nunito"/>
              <a:ea typeface="Nunito"/>
              <a:cs typeface="Nunito"/>
              <a:sym typeface="Nunito"/>
            </a:endParaRPr>
          </a:p>
        </p:txBody>
      </p:sp>
      <p:sp>
        <p:nvSpPr>
          <p:cNvPr id="290" name="Google Shape;290;p14"/>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96" name="Google Shape;296;p15"/>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News classification is one of the application of text classification</a:t>
            </a:r>
            <a:br>
              <a:rPr lang="en" sz="1400"/>
            </a:br>
            <a:endParaRPr sz="1400"/>
          </a:p>
          <a:p>
            <a:pPr indent="-317500" lvl="0" marL="457200" rtl="0" algn="l">
              <a:spcBef>
                <a:spcPts val="0"/>
              </a:spcBef>
              <a:spcAft>
                <a:spcPts val="0"/>
              </a:spcAft>
              <a:buSzPts val="1400"/>
              <a:buChar char="-"/>
            </a:pPr>
            <a:r>
              <a:rPr lang="en" sz="1400"/>
              <a:t>It  helps to categorize news article into certain class, so it is useful when accessing relevant information or recommending news to user</a:t>
            </a:r>
            <a:br>
              <a:rPr lang="en" sz="1400"/>
            </a:br>
            <a:endParaRPr sz="1400"/>
          </a:p>
          <a:p>
            <a:pPr indent="-317500" lvl="0" marL="457200" rtl="0" algn="l">
              <a:spcBef>
                <a:spcPts val="0"/>
              </a:spcBef>
              <a:spcAft>
                <a:spcPts val="0"/>
              </a:spcAft>
              <a:buSzPts val="1400"/>
              <a:buChar char="-"/>
            </a:pPr>
            <a:r>
              <a:rPr lang="en" sz="1400"/>
              <a:t>Classification problem deals with both understanding the semantics and grouping the text to its class</a:t>
            </a:r>
            <a:br>
              <a:rPr lang="en" sz="1400"/>
            </a:br>
            <a:endParaRPr sz="1400"/>
          </a:p>
          <a:p>
            <a:pPr indent="-317500" lvl="0" marL="457200" rtl="0" algn="l">
              <a:spcBef>
                <a:spcPts val="0"/>
              </a:spcBef>
              <a:spcAft>
                <a:spcPts val="0"/>
              </a:spcAft>
              <a:buSzPts val="1400"/>
              <a:buChar char="-"/>
            </a:pPr>
            <a:r>
              <a:rPr lang="en" sz="1400"/>
              <a:t>Large amount of label data are usually required for classification problem</a:t>
            </a:r>
            <a:br>
              <a:rPr lang="en" sz="1400"/>
            </a:br>
            <a:br>
              <a:rPr lang="en" sz="1400"/>
            </a:br>
            <a:endParaRPr sz="1400"/>
          </a:p>
          <a:p>
            <a:pPr indent="0" lvl="0" marL="0" rtl="0" algn="l">
              <a:spcBef>
                <a:spcPts val="1600"/>
              </a:spcBef>
              <a:spcAft>
                <a:spcPts val="1600"/>
              </a:spcAft>
              <a:buNone/>
            </a:pPr>
            <a:r>
              <a:t/>
            </a:r>
            <a:endParaRPr sz="1400"/>
          </a:p>
        </p:txBody>
      </p:sp>
      <p:sp>
        <p:nvSpPr>
          <p:cNvPr id="297" name="Google Shape;297;p15"/>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6"/>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Statement</a:t>
            </a:r>
            <a:endParaRPr/>
          </a:p>
        </p:txBody>
      </p:sp>
      <p:sp>
        <p:nvSpPr>
          <p:cNvPr id="303" name="Google Shape;303;p16"/>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Difficult to find labeled data and less labeled data usually doesn’t give high accuracy</a:t>
            </a:r>
            <a:br>
              <a:rPr lang="en" sz="1400"/>
            </a:br>
            <a:endParaRPr sz="1400"/>
          </a:p>
          <a:p>
            <a:pPr indent="-317500" lvl="0" marL="457200" rtl="0" algn="l">
              <a:spcBef>
                <a:spcPts val="0"/>
              </a:spcBef>
              <a:spcAft>
                <a:spcPts val="0"/>
              </a:spcAft>
              <a:buSzPts val="1400"/>
              <a:buChar char="-"/>
            </a:pPr>
            <a:r>
              <a:rPr lang="en" sz="1400"/>
              <a:t>Since there is large amount of unlabelled data, getting information from such data will be very beneficial</a:t>
            </a:r>
            <a:br>
              <a:rPr lang="en" sz="1400"/>
            </a:br>
            <a:endParaRPr sz="1400"/>
          </a:p>
          <a:p>
            <a:pPr indent="-317500" lvl="0" marL="457200" rtl="0" algn="l">
              <a:spcBef>
                <a:spcPts val="0"/>
              </a:spcBef>
              <a:spcAft>
                <a:spcPts val="0"/>
              </a:spcAft>
              <a:buSzPts val="1400"/>
              <a:buChar char="-"/>
            </a:pPr>
            <a:r>
              <a:rPr lang="en" sz="1400"/>
              <a:t>Extracting information from less amount of data is also challenging</a:t>
            </a:r>
            <a:endParaRPr sz="1400"/>
          </a:p>
        </p:txBody>
      </p:sp>
      <p:sp>
        <p:nvSpPr>
          <p:cNvPr id="304" name="Google Shape;304;p16"/>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7"/>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Objectives</a:t>
            </a:r>
            <a:endParaRPr/>
          </a:p>
          <a:p>
            <a:pPr indent="0" lvl="0" marL="0" rtl="0" algn="l">
              <a:spcBef>
                <a:spcPts val="0"/>
              </a:spcBef>
              <a:spcAft>
                <a:spcPts val="0"/>
              </a:spcAft>
              <a:buNone/>
            </a:pPr>
            <a:r>
              <a:t/>
            </a:r>
            <a:endParaRPr/>
          </a:p>
        </p:txBody>
      </p:sp>
      <p:sp>
        <p:nvSpPr>
          <p:cNvPr id="310" name="Google Shape;310;p17"/>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sz="1400"/>
              <a:t>To leverage the use of less amount of labelled data as well as large unlabelled data.</a:t>
            </a:r>
            <a:br>
              <a:rPr lang="en" sz="1400"/>
            </a:br>
            <a:endParaRPr sz="1400"/>
          </a:p>
          <a:p>
            <a:pPr indent="-317500" lvl="0" marL="457200" rtl="0" algn="l">
              <a:spcBef>
                <a:spcPts val="0"/>
              </a:spcBef>
              <a:spcAft>
                <a:spcPts val="0"/>
              </a:spcAft>
              <a:buSzPts val="1400"/>
              <a:buAutoNum type="arabicPeriod"/>
            </a:pPr>
            <a:r>
              <a:rPr lang="en" sz="1400"/>
              <a:t>To convert raw text data to rich semantic heterogeneous graph network.</a:t>
            </a:r>
            <a:br>
              <a:rPr lang="en" sz="1400"/>
            </a:br>
            <a:endParaRPr sz="1400"/>
          </a:p>
          <a:p>
            <a:pPr indent="-317500" lvl="0" marL="457200" rtl="0" algn="l">
              <a:spcBef>
                <a:spcPts val="0"/>
              </a:spcBef>
              <a:spcAft>
                <a:spcPts val="0"/>
              </a:spcAft>
              <a:buSzPts val="1400"/>
              <a:buAutoNum type="arabicPeriod"/>
            </a:pPr>
            <a:r>
              <a:rPr lang="en" sz="1400"/>
              <a:t>To classify the short news data using semi-supervised HGAT method enhancing the embedding approach</a:t>
            </a:r>
            <a:endParaRPr sz="1400"/>
          </a:p>
          <a:p>
            <a:pPr indent="0" lvl="0" marL="0" rtl="0" algn="l">
              <a:spcBef>
                <a:spcPts val="1600"/>
              </a:spcBef>
              <a:spcAft>
                <a:spcPts val="1600"/>
              </a:spcAft>
              <a:buNone/>
            </a:pPr>
            <a:r>
              <a:t/>
            </a:r>
            <a:endParaRPr sz="1400"/>
          </a:p>
        </p:txBody>
      </p:sp>
      <p:sp>
        <p:nvSpPr>
          <p:cNvPr id="311" name="Google Shape;311;p17"/>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Literature Review</a:t>
            </a:r>
            <a:endParaRPr/>
          </a:p>
        </p:txBody>
      </p:sp>
      <p:sp>
        <p:nvSpPr>
          <p:cNvPr id="317" name="Google Shape;317;p18"/>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t>Traditional text classification methods such as SVM (Blei et al., 2003)need a feature engineering step for text representation.</a:t>
            </a:r>
            <a:br>
              <a:rPr lang="en" sz="1400"/>
            </a:br>
            <a:br>
              <a:rPr lang="en" sz="1400"/>
            </a:br>
            <a:r>
              <a:rPr lang="en" sz="1400"/>
              <a:t>Similarly, various deep neural network such as RNNs (Liu et al., 2016; Sinha et al., 2018) and CNNs, (Kim, 2014; Shimura et al., 2018) and character-level CNN Zhangetal. (2015) were applied in text classification problem which improve the accuracy</a:t>
            </a:r>
            <a:br>
              <a:rPr lang="en" sz="1400"/>
            </a:br>
            <a:br>
              <a:rPr lang="en" sz="1400"/>
            </a:br>
            <a:r>
              <a:rPr lang="en" sz="1400"/>
              <a:t>Introduction of graph network in the text processing explore more rich semantics with the introduction of GCN (Kipf and Welling, 2017) and also Text GCN (Yao et al., 2019). Later attention layer was added to introduce GAT and HGAT network which perform better in less amount of data.</a:t>
            </a:r>
            <a:endParaRPr sz="1400"/>
          </a:p>
        </p:txBody>
      </p:sp>
      <p:sp>
        <p:nvSpPr>
          <p:cNvPr id="318" name="Google Shape;318;p18"/>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9"/>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Graph Network?</a:t>
            </a:r>
            <a:endParaRPr/>
          </a:p>
        </p:txBody>
      </p:sp>
      <p:sp>
        <p:nvSpPr>
          <p:cNvPr id="324" name="Google Shape;324;p19"/>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Natural Representation of Data in graph</a:t>
            </a:r>
            <a:br>
              <a:rPr lang="en" sz="1400"/>
            </a:br>
            <a:r>
              <a:rPr lang="en" sz="1400"/>
              <a:t>(preserve higher level semantic levels)</a:t>
            </a:r>
            <a:endParaRPr sz="1400"/>
          </a:p>
          <a:p>
            <a:pPr indent="-317500" lvl="0" marL="457200" rtl="0" algn="l">
              <a:spcBef>
                <a:spcPts val="0"/>
              </a:spcBef>
              <a:spcAft>
                <a:spcPts val="0"/>
              </a:spcAft>
              <a:buSzPts val="1400"/>
              <a:buChar char="-"/>
            </a:pPr>
            <a:r>
              <a:rPr lang="en" sz="1400"/>
              <a:t>Unlike CNN which has fixed size grid structure (grid graph), it is more flexible</a:t>
            </a:r>
            <a:endParaRPr sz="1400"/>
          </a:p>
          <a:p>
            <a:pPr indent="-317500" lvl="0" marL="457200" rtl="0" algn="l">
              <a:spcBef>
                <a:spcPts val="0"/>
              </a:spcBef>
              <a:spcAft>
                <a:spcPts val="0"/>
              </a:spcAft>
              <a:buSzPts val="1400"/>
              <a:buChar char="-"/>
            </a:pPr>
            <a:r>
              <a:rPr lang="en" sz="1400"/>
              <a:t>No fixed ordering</a:t>
            </a:r>
            <a:endParaRPr sz="1400"/>
          </a:p>
          <a:p>
            <a:pPr indent="-317500" lvl="0" marL="457200" rtl="0" algn="l">
              <a:spcBef>
                <a:spcPts val="0"/>
              </a:spcBef>
              <a:spcAft>
                <a:spcPts val="0"/>
              </a:spcAft>
              <a:buSzPts val="1400"/>
              <a:buChar char="-"/>
            </a:pPr>
            <a:r>
              <a:rPr lang="en" sz="1400"/>
              <a:t>Node can have any amount of neighbor</a:t>
            </a:r>
            <a:endParaRPr sz="1400"/>
          </a:p>
        </p:txBody>
      </p:sp>
      <p:sp>
        <p:nvSpPr>
          <p:cNvPr id="325" name="Google Shape;325;p19"/>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26" name="Google Shape;326;p19"/>
          <p:cNvPicPr preferRelativeResize="0"/>
          <p:nvPr/>
        </p:nvPicPr>
        <p:blipFill>
          <a:blip r:embed="rId3">
            <a:alphaModFix/>
          </a:blip>
          <a:stretch>
            <a:fillRect/>
          </a:stretch>
        </p:blipFill>
        <p:spPr>
          <a:xfrm>
            <a:off x="2540545" y="2809304"/>
            <a:ext cx="3736149" cy="16308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0"/>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Graph Network</a:t>
            </a:r>
            <a:endParaRPr/>
          </a:p>
        </p:txBody>
      </p:sp>
      <p:sp>
        <p:nvSpPr>
          <p:cNvPr id="332" name="Google Shape;332;p20"/>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Graph is collection of nodes and edges between them</a:t>
            </a:r>
            <a:br>
              <a:rPr lang="en" sz="1400"/>
            </a:br>
            <a:endParaRPr sz="1400"/>
          </a:p>
          <a:p>
            <a:pPr indent="-317500" lvl="0" marL="457200" rtl="0" algn="l">
              <a:spcBef>
                <a:spcPts val="0"/>
              </a:spcBef>
              <a:spcAft>
                <a:spcPts val="0"/>
              </a:spcAft>
              <a:buSzPts val="1400"/>
              <a:buChar char="-"/>
            </a:pPr>
            <a:r>
              <a:rPr lang="en" sz="1400"/>
              <a:t>It can represent a real world objects since every object has property and interactions with some other objects.</a:t>
            </a:r>
            <a:br>
              <a:rPr lang="en" sz="1400"/>
            </a:br>
            <a:endParaRPr sz="1400"/>
          </a:p>
          <a:p>
            <a:pPr indent="-317500" lvl="0" marL="457200" rtl="0" algn="l">
              <a:spcBef>
                <a:spcPts val="0"/>
              </a:spcBef>
              <a:spcAft>
                <a:spcPts val="0"/>
              </a:spcAft>
              <a:buSzPts val="1400"/>
              <a:buChar char="-"/>
            </a:pPr>
            <a:r>
              <a:rPr lang="en" sz="1400"/>
              <a:t>Graph (V,E)</a:t>
            </a:r>
            <a:endParaRPr sz="1400"/>
          </a:p>
          <a:p>
            <a:pPr indent="-317500" lvl="0" marL="457200" rtl="0" algn="l">
              <a:spcBef>
                <a:spcPts val="1600"/>
              </a:spcBef>
              <a:spcAft>
                <a:spcPts val="0"/>
              </a:spcAft>
              <a:buSzPts val="1400"/>
              <a:buChar char="-"/>
            </a:pPr>
            <a:r>
              <a:rPr lang="en" sz="1400"/>
              <a:t>Adjacency matrix    </a:t>
            </a:r>
            <a:endParaRPr sz="1400"/>
          </a:p>
          <a:p>
            <a:pPr indent="0" lvl="0" marL="0" rtl="0" algn="l">
              <a:spcBef>
                <a:spcPts val="1600"/>
              </a:spcBef>
              <a:spcAft>
                <a:spcPts val="1600"/>
              </a:spcAft>
              <a:buNone/>
            </a:pPr>
            <a:r>
              <a:t/>
            </a:r>
            <a:endParaRPr sz="1400"/>
          </a:p>
        </p:txBody>
      </p:sp>
      <p:sp>
        <p:nvSpPr>
          <p:cNvPr id="333" name="Google Shape;333;p20"/>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34" name="Google Shape;334;p20"/>
          <p:cNvPicPr preferRelativeResize="0"/>
          <p:nvPr/>
        </p:nvPicPr>
        <p:blipFill rotWithShape="1">
          <a:blip r:embed="rId3">
            <a:alphaModFix/>
          </a:blip>
          <a:srcRect b="15152" l="0" r="0" t="12967"/>
          <a:stretch/>
        </p:blipFill>
        <p:spPr>
          <a:xfrm>
            <a:off x="4180650" y="2413975"/>
            <a:ext cx="3715400" cy="1934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1"/>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40" name="Google Shape;340;p21"/>
          <p:cNvPicPr preferRelativeResize="0"/>
          <p:nvPr/>
        </p:nvPicPr>
        <p:blipFill>
          <a:blip r:embed="rId3">
            <a:alphaModFix/>
          </a:blip>
          <a:stretch>
            <a:fillRect/>
          </a:stretch>
        </p:blipFill>
        <p:spPr>
          <a:xfrm>
            <a:off x="1303800" y="1247600"/>
            <a:ext cx="7030500" cy="2537597"/>
          </a:xfrm>
          <a:prstGeom prst="rect">
            <a:avLst/>
          </a:prstGeom>
          <a:noFill/>
          <a:ln>
            <a:noFill/>
          </a:ln>
        </p:spPr>
      </p:pic>
      <p:sp>
        <p:nvSpPr>
          <p:cNvPr id="341" name="Google Shape;341;p21"/>
          <p:cNvSpPr txBox="1"/>
          <p:nvPr/>
        </p:nvSpPr>
        <p:spPr>
          <a:xfrm>
            <a:off x="3299775" y="3785200"/>
            <a:ext cx="409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a:ea typeface="Nunito"/>
                <a:cs typeface="Nunito"/>
                <a:sym typeface="Nunito"/>
              </a:rPr>
              <a:t>Data representation in Graph</a:t>
            </a:r>
            <a:endParaRPr>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2"/>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 Embedding</a:t>
            </a:r>
            <a:endParaRPr/>
          </a:p>
        </p:txBody>
      </p:sp>
      <p:sp>
        <p:nvSpPr>
          <p:cNvPr id="347" name="Google Shape;347;p22"/>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48" name="Google Shape;348;p22"/>
          <p:cNvPicPr preferRelativeResize="0"/>
          <p:nvPr/>
        </p:nvPicPr>
        <p:blipFill>
          <a:blip r:embed="rId3">
            <a:alphaModFix/>
          </a:blip>
          <a:stretch>
            <a:fillRect/>
          </a:stretch>
        </p:blipFill>
        <p:spPr>
          <a:xfrm>
            <a:off x="1676175" y="1446900"/>
            <a:ext cx="1520800" cy="2466150"/>
          </a:xfrm>
          <a:prstGeom prst="rect">
            <a:avLst/>
          </a:prstGeom>
          <a:noFill/>
          <a:ln>
            <a:noFill/>
          </a:ln>
        </p:spPr>
      </p:pic>
      <p:pic>
        <p:nvPicPr>
          <p:cNvPr id="349" name="Google Shape;349;p22"/>
          <p:cNvPicPr preferRelativeResize="0"/>
          <p:nvPr/>
        </p:nvPicPr>
        <p:blipFill>
          <a:blip r:embed="rId4">
            <a:alphaModFix/>
          </a:blip>
          <a:stretch>
            <a:fillRect/>
          </a:stretch>
        </p:blipFill>
        <p:spPr>
          <a:xfrm>
            <a:off x="3767950" y="2255090"/>
            <a:ext cx="1520800" cy="1229738"/>
          </a:xfrm>
          <a:prstGeom prst="rect">
            <a:avLst/>
          </a:prstGeom>
          <a:noFill/>
          <a:ln>
            <a:noFill/>
          </a:ln>
        </p:spPr>
      </p:pic>
      <p:pic>
        <p:nvPicPr>
          <p:cNvPr id="350" name="Google Shape;350;p22"/>
          <p:cNvPicPr preferRelativeResize="0"/>
          <p:nvPr/>
        </p:nvPicPr>
        <p:blipFill>
          <a:blip r:embed="rId4">
            <a:alphaModFix/>
          </a:blip>
          <a:stretch>
            <a:fillRect/>
          </a:stretch>
        </p:blipFill>
        <p:spPr>
          <a:xfrm>
            <a:off x="3511225" y="2255090"/>
            <a:ext cx="1520800" cy="1229738"/>
          </a:xfrm>
          <a:prstGeom prst="rect">
            <a:avLst/>
          </a:prstGeom>
          <a:noFill/>
          <a:ln>
            <a:noFill/>
          </a:ln>
        </p:spPr>
      </p:pic>
      <p:pic>
        <p:nvPicPr>
          <p:cNvPr id="351" name="Google Shape;351;p22"/>
          <p:cNvPicPr preferRelativeResize="0"/>
          <p:nvPr/>
        </p:nvPicPr>
        <p:blipFill>
          <a:blip r:embed="rId5">
            <a:alphaModFix/>
          </a:blip>
          <a:stretch>
            <a:fillRect/>
          </a:stretch>
        </p:blipFill>
        <p:spPr>
          <a:xfrm>
            <a:off x="4909550" y="1441540"/>
            <a:ext cx="3424750" cy="2856850"/>
          </a:xfrm>
          <a:prstGeom prst="rect">
            <a:avLst/>
          </a:prstGeom>
          <a:noFill/>
          <a:ln>
            <a:noFill/>
          </a:ln>
        </p:spPr>
      </p:pic>
      <p:pic>
        <p:nvPicPr>
          <p:cNvPr id="352" name="Google Shape;352;p22"/>
          <p:cNvPicPr preferRelativeResize="0"/>
          <p:nvPr/>
        </p:nvPicPr>
        <p:blipFill>
          <a:blip r:embed="rId6">
            <a:alphaModFix/>
          </a:blip>
          <a:stretch>
            <a:fillRect/>
          </a:stretch>
        </p:blipFill>
        <p:spPr>
          <a:xfrm>
            <a:off x="2454575" y="1121615"/>
            <a:ext cx="1586294" cy="540310"/>
          </a:xfrm>
          <a:prstGeom prst="rect">
            <a:avLst/>
          </a:prstGeom>
          <a:noFill/>
          <a:ln>
            <a:noFill/>
          </a:ln>
        </p:spPr>
      </p:pic>
      <p:pic>
        <p:nvPicPr>
          <p:cNvPr id="353" name="Google Shape;353;p22"/>
          <p:cNvPicPr preferRelativeResize="0"/>
          <p:nvPr/>
        </p:nvPicPr>
        <p:blipFill>
          <a:blip r:embed="rId7">
            <a:alphaModFix/>
          </a:blip>
          <a:stretch>
            <a:fillRect/>
          </a:stretch>
        </p:blipFill>
        <p:spPr>
          <a:xfrm>
            <a:off x="6476950" y="1121615"/>
            <a:ext cx="1468534" cy="540310"/>
          </a:xfrm>
          <a:prstGeom prst="rect">
            <a:avLst/>
          </a:prstGeom>
          <a:noFill/>
          <a:ln>
            <a:noFill/>
          </a:ln>
        </p:spPr>
      </p:pic>
      <p:pic>
        <p:nvPicPr>
          <p:cNvPr id="354" name="Google Shape;354;p22"/>
          <p:cNvPicPr preferRelativeResize="0"/>
          <p:nvPr/>
        </p:nvPicPr>
        <p:blipFill>
          <a:blip r:embed="rId8">
            <a:alphaModFix/>
          </a:blip>
          <a:stretch>
            <a:fillRect/>
          </a:stretch>
        </p:blipFill>
        <p:spPr>
          <a:xfrm>
            <a:off x="5796625" y="1515325"/>
            <a:ext cx="2772875" cy="291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3"/>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a:t>
            </a:r>
            <a:endParaRPr/>
          </a:p>
        </p:txBody>
      </p:sp>
      <p:sp>
        <p:nvSpPr>
          <p:cNvPr id="360" name="Google Shape;360;p23"/>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Datasets</a:t>
            </a:r>
            <a:br>
              <a:rPr lang="en" sz="1400"/>
            </a:br>
            <a:br>
              <a:rPr lang="en" sz="1400"/>
            </a:br>
            <a:r>
              <a:rPr lang="en" sz="1400"/>
              <a:t>AGNews datasets- 6000 data</a:t>
            </a:r>
            <a:br>
              <a:rPr lang="en" sz="1400"/>
            </a:br>
            <a:r>
              <a:rPr lang="en" sz="1400"/>
              <a:t>Derived from base AGNews dataset  which contain 4,96,835 categorized news articles from more than 2000 news sources more than 1 year. Updated(09/09/2015)</a:t>
            </a:r>
            <a:br>
              <a:rPr lang="en" sz="1400"/>
            </a:br>
            <a:br>
              <a:rPr lang="en" sz="1400"/>
            </a:br>
            <a:r>
              <a:rPr lang="en" sz="1400"/>
              <a:t>Format:  [index] \t [category] \t [news text] \n</a:t>
            </a:r>
            <a:br>
              <a:rPr lang="en" sz="1400"/>
            </a:br>
            <a:r>
              <a:rPr lang="en" sz="1400"/>
              <a:t>Category value is: 1-World, 2-Sports, 3-Business, 4-Sci/Tech</a:t>
            </a:r>
            <a:endParaRPr sz="1400"/>
          </a:p>
          <a:p>
            <a:pPr indent="0" lvl="0" marL="0" rtl="0" algn="l">
              <a:spcBef>
                <a:spcPts val="1600"/>
              </a:spcBef>
              <a:spcAft>
                <a:spcPts val="1600"/>
              </a:spcAft>
              <a:buNone/>
            </a:pPr>
            <a:br>
              <a:rPr lang="en" sz="1400"/>
            </a:br>
            <a:br>
              <a:rPr lang="en" sz="1400"/>
            </a:br>
            <a:br>
              <a:rPr lang="en" sz="1400"/>
            </a:br>
            <a:br>
              <a:rPr lang="en" sz="1400"/>
            </a:br>
            <a:br>
              <a:rPr lang="en" sz="1400"/>
            </a:br>
            <a:endParaRPr sz="1400"/>
          </a:p>
        </p:txBody>
      </p:sp>
      <p:sp>
        <p:nvSpPr>
          <p:cNvPr id="361" name="Google Shape;361;p23"/>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62" name="Google Shape;362;p23"/>
          <p:cNvPicPr preferRelativeResize="0"/>
          <p:nvPr/>
        </p:nvPicPr>
        <p:blipFill>
          <a:blip r:embed="rId3">
            <a:alphaModFix/>
          </a:blip>
          <a:stretch>
            <a:fillRect/>
          </a:stretch>
        </p:blipFill>
        <p:spPr>
          <a:xfrm>
            <a:off x="1369800" y="3482800"/>
            <a:ext cx="7081250" cy="1371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24"/>
          <p:cNvPicPr preferRelativeResize="0"/>
          <p:nvPr/>
        </p:nvPicPr>
        <p:blipFill rotWithShape="1">
          <a:blip r:embed="rId3">
            <a:alphaModFix/>
          </a:blip>
          <a:srcRect b="0" l="4890" r="4890" t="0"/>
          <a:stretch/>
        </p:blipFill>
        <p:spPr>
          <a:xfrm>
            <a:off x="3047650" y="0"/>
            <a:ext cx="6096349" cy="5143501"/>
          </a:xfrm>
          <a:prstGeom prst="rect">
            <a:avLst/>
          </a:prstGeom>
          <a:noFill/>
          <a:ln>
            <a:noFill/>
          </a:ln>
        </p:spPr>
      </p:pic>
      <p:sp>
        <p:nvSpPr>
          <p:cNvPr id="368" name="Google Shape;368;p24"/>
          <p:cNvSpPr txBox="1"/>
          <p:nvPr>
            <p:ph type="title"/>
          </p:nvPr>
        </p:nvSpPr>
        <p:spPr>
          <a:xfrm>
            <a:off x="185350" y="352000"/>
            <a:ext cx="2683200" cy="407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Block Diagram</a:t>
            </a:r>
            <a:endParaRPr/>
          </a:p>
        </p:txBody>
      </p:sp>
      <p:sp>
        <p:nvSpPr>
          <p:cNvPr id="369" name="Google Shape;36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5"/>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AutoNum type="arabicPeriod"/>
            </a:pPr>
            <a:r>
              <a:rPr lang="en"/>
              <a:t>Entity Extraction</a:t>
            </a:r>
            <a:endParaRPr/>
          </a:p>
        </p:txBody>
      </p:sp>
      <p:sp>
        <p:nvSpPr>
          <p:cNvPr id="375" name="Google Shape;375;p25"/>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Use of TagME API</a:t>
            </a:r>
            <a:endParaRPr sz="1400"/>
          </a:p>
          <a:p>
            <a:pPr indent="-317500" lvl="0" marL="457200" rtl="0" algn="l">
              <a:spcBef>
                <a:spcPts val="0"/>
              </a:spcBef>
              <a:spcAft>
                <a:spcPts val="0"/>
              </a:spcAft>
              <a:buSzPts val="1400"/>
              <a:buChar char="-"/>
            </a:pPr>
            <a:r>
              <a:rPr lang="en" sz="1400"/>
              <a:t>Input one sentence</a:t>
            </a:r>
            <a:endParaRPr sz="1400"/>
          </a:p>
          <a:p>
            <a:pPr indent="-317500" lvl="0" marL="457200" rtl="0" algn="l">
              <a:spcBef>
                <a:spcPts val="0"/>
              </a:spcBef>
              <a:spcAft>
                <a:spcPts val="0"/>
              </a:spcAft>
              <a:buSzPts val="1400"/>
              <a:buChar char="-"/>
            </a:pPr>
            <a:r>
              <a:rPr lang="en" sz="1400"/>
              <a:t>Output list of entities in that sentence [{entity 1}, {entity 2},.....]</a:t>
            </a:r>
            <a:endParaRPr sz="1400"/>
          </a:p>
          <a:p>
            <a:pPr indent="-317500" lvl="0" marL="457200" rtl="0" algn="l">
              <a:spcBef>
                <a:spcPts val="0"/>
              </a:spcBef>
              <a:spcAft>
                <a:spcPts val="0"/>
              </a:spcAft>
              <a:buSzPts val="1400"/>
              <a:buChar char="-"/>
            </a:pPr>
            <a:r>
              <a:rPr lang="en" sz="1400"/>
              <a:t>Format of output: </a:t>
            </a:r>
            <a:br>
              <a:rPr lang="en" sz="1400"/>
            </a:br>
            <a:r>
              <a:rPr lang="en" sz="1400"/>
              <a:t>entity 1 = {spot, start, link_probability, rho, end, id, title }</a:t>
            </a:r>
            <a:br>
              <a:rPr b="1" lang="en" sz="1400"/>
            </a:br>
            <a:endParaRPr b="1" sz="1400"/>
          </a:p>
        </p:txBody>
      </p:sp>
      <p:pic>
        <p:nvPicPr>
          <p:cNvPr id="376" name="Google Shape;376;p25"/>
          <p:cNvPicPr preferRelativeResize="0"/>
          <p:nvPr/>
        </p:nvPicPr>
        <p:blipFill>
          <a:blip r:embed="rId3">
            <a:alphaModFix/>
          </a:blip>
          <a:stretch>
            <a:fillRect/>
          </a:stretch>
        </p:blipFill>
        <p:spPr>
          <a:xfrm>
            <a:off x="1672875" y="3349750"/>
            <a:ext cx="5943600" cy="1095375"/>
          </a:xfrm>
          <a:prstGeom prst="rect">
            <a:avLst/>
          </a:prstGeom>
          <a:noFill/>
          <a:ln>
            <a:noFill/>
          </a:ln>
        </p:spPr>
      </p:pic>
      <p:sp>
        <p:nvSpPr>
          <p:cNvPr id="377" name="Google Shape;377;p25"/>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6"/>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Topic Modelling</a:t>
            </a:r>
            <a:endParaRPr/>
          </a:p>
        </p:txBody>
      </p:sp>
      <p:sp>
        <p:nvSpPr>
          <p:cNvPr id="383" name="Google Shape;383;p26"/>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Represents abstract topic that occur in collection of documents</a:t>
            </a:r>
            <a:br>
              <a:rPr lang="en" sz="1400"/>
            </a:br>
            <a:endParaRPr sz="1400"/>
          </a:p>
          <a:p>
            <a:pPr indent="-317500" lvl="0" marL="457200" rtl="0" algn="l">
              <a:spcBef>
                <a:spcPts val="0"/>
              </a:spcBef>
              <a:spcAft>
                <a:spcPts val="0"/>
              </a:spcAft>
              <a:buSzPts val="1400"/>
              <a:buChar char="-"/>
            </a:pPr>
            <a:r>
              <a:rPr lang="en" sz="1400"/>
              <a:t>Latent Dirichlet Allocation (LDA) is used for topic modeling</a:t>
            </a:r>
            <a:br>
              <a:rPr lang="en" sz="1400"/>
            </a:br>
            <a:endParaRPr sz="1400"/>
          </a:p>
          <a:p>
            <a:pPr indent="0" lvl="0" marL="0" rtl="0" algn="l">
              <a:spcBef>
                <a:spcPts val="1600"/>
              </a:spcBef>
              <a:spcAft>
                <a:spcPts val="0"/>
              </a:spcAft>
              <a:buNone/>
            </a:pPr>
            <a:r>
              <a:rPr lang="en" sz="1400"/>
              <a:t>T_i  =(θ_1,θ_2.....,θ_w) </a:t>
            </a:r>
            <a:br>
              <a:rPr lang="en" sz="1400"/>
            </a:br>
            <a:r>
              <a:rPr lang="en" sz="1400"/>
              <a:t>where, i is the number of topics</a:t>
            </a:r>
            <a:br>
              <a:rPr lang="en" sz="1400"/>
            </a:br>
            <a:r>
              <a:rPr lang="en" sz="1400"/>
              <a:t>	θ_w represents keywords and w is the vocabulary size</a:t>
            </a:r>
            <a:br>
              <a:rPr lang="en" sz="1400"/>
            </a:br>
            <a:br>
              <a:rPr lang="en" sz="1400"/>
            </a:br>
            <a:r>
              <a:rPr lang="en" sz="1400"/>
              <a:t>Here each T_i will form a node and each document is assigned with P topics that have the highest probabilities</a:t>
            </a:r>
            <a:endParaRPr sz="1400"/>
          </a:p>
          <a:p>
            <a:pPr indent="0" lvl="0" marL="0" rtl="0" algn="l">
              <a:spcBef>
                <a:spcPts val="1600"/>
              </a:spcBef>
              <a:spcAft>
                <a:spcPts val="1600"/>
              </a:spcAft>
              <a:buNone/>
            </a:pPr>
            <a:r>
              <a:t/>
            </a:r>
            <a:endParaRPr sz="1400"/>
          </a:p>
        </p:txBody>
      </p:sp>
      <p:sp>
        <p:nvSpPr>
          <p:cNvPr id="384" name="Google Shape;384;p26"/>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7"/>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Building Graph</a:t>
            </a:r>
            <a:endParaRPr/>
          </a:p>
        </p:txBody>
      </p:sp>
      <p:sp>
        <p:nvSpPr>
          <p:cNvPr id="390" name="Google Shape;390;p27"/>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Graph type: Undirected and Heterogeneous Graph</a:t>
            </a:r>
            <a:endParaRPr sz="1400"/>
          </a:p>
          <a:p>
            <a:pPr indent="-317500" lvl="0" marL="457200" rtl="0" algn="l">
              <a:spcBef>
                <a:spcPts val="0"/>
              </a:spcBef>
              <a:spcAft>
                <a:spcPts val="0"/>
              </a:spcAft>
              <a:buSzPts val="1400"/>
              <a:buChar char="-"/>
            </a:pPr>
            <a:r>
              <a:rPr lang="en" sz="1400"/>
              <a:t>Edge has a label to store link strength</a:t>
            </a:r>
            <a:br>
              <a:rPr lang="en" sz="1400"/>
            </a:br>
            <a:endParaRPr sz="1400"/>
          </a:p>
          <a:p>
            <a:pPr indent="-317500" lvl="0" marL="457200" rtl="0" algn="l">
              <a:spcBef>
                <a:spcPts val="0"/>
              </a:spcBef>
              <a:spcAft>
                <a:spcPts val="0"/>
              </a:spcAft>
              <a:buSzPts val="1400"/>
              <a:buChar char="-"/>
            </a:pPr>
            <a:r>
              <a:rPr lang="en" sz="1400"/>
              <a:t>Node type: Document - Ⓓ, Topic - Ⓣ, Entity - Ⓔ</a:t>
            </a:r>
            <a:endParaRPr sz="1400"/>
          </a:p>
          <a:p>
            <a:pPr indent="-317500" lvl="0" marL="457200" rtl="0" algn="l">
              <a:spcBef>
                <a:spcPts val="0"/>
              </a:spcBef>
              <a:spcAft>
                <a:spcPts val="0"/>
              </a:spcAft>
              <a:buSzPts val="1400"/>
              <a:buChar char="-"/>
            </a:pPr>
            <a:r>
              <a:rPr lang="en" sz="1400"/>
              <a:t>Edge type: Ⓓ↔Ⓣ</a:t>
            </a:r>
            <a:br>
              <a:rPr lang="en" sz="1400"/>
            </a:br>
            <a:r>
              <a:rPr lang="en" sz="1400"/>
              <a:t>	         Ⓓ↔Ⓔ</a:t>
            </a:r>
            <a:br>
              <a:rPr lang="en" sz="1400"/>
            </a:br>
            <a:r>
              <a:rPr lang="en" sz="1400"/>
              <a:t>	         Ⓔ↔Ⓔ</a:t>
            </a:r>
            <a:endParaRPr sz="1400"/>
          </a:p>
          <a:p>
            <a:pPr indent="-317500" lvl="0" marL="457200" rtl="0" algn="l">
              <a:spcBef>
                <a:spcPts val="0"/>
              </a:spcBef>
              <a:spcAft>
                <a:spcPts val="0"/>
              </a:spcAft>
              <a:buSzPts val="1400"/>
              <a:buChar char="-"/>
            </a:pPr>
            <a:r>
              <a:rPr lang="en" sz="1400"/>
              <a:t>Two documents are linked in following formations with each other</a:t>
            </a:r>
            <a:br>
              <a:rPr lang="en" sz="1400"/>
            </a:br>
            <a:r>
              <a:rPr lang="en" sz="1400"/>
              <a:t>Ⓓ↔Ⓣ↔Ⓓ</a:t>
            </a:r>
            <a:br>
              <a:rPr lang="en" sz="1400"/>
            </a:br>
            <a:r>
              <a:rPr lang="en" sz="1400"/>
              <a:t>Ⓓ↔Ⓔ↔Ⓓ</a:t>
            </a:r>
            <a:br>
              <a:rPr lang="en" sz="1400"/>
            </a:br>
            <a:r>
              <a:rPr lang="en" sz="1400"/>
              <a:t>Ⓓ↔Ⓔ↔Ⓔ↔Ⓓ</a:t>
            </a:r>
            <a:endParaRPr sz="1400"/>
          </a:p>
          <a:p>
            <a:pPr indent="-317500" lvl="0" marL="457200" rtl="0" algn="l">
              <a:spcBef>
                <a:spcPts val="0"/>
              </a:spcBef>
              <a:spcAft>
                <a:spcPts val="0"/>
              </a:spcAft>
              <a:buSzPts val="1400"/>
              <a:buChar char="-"/>
            </a:pPr>
            <a:r>
              <a:rPr lang="en" sz="1400"/>
              <a:t>Hyperparameters:</a:t>
            </a:r>
            <a:br>
              <a:rPr lang="en" sz="1400"/>
            </a:br>
            <a:r>
              <a:rPr lang="en" sz="1400"/>
              <a:t>	enitity_similarity : 0.5, min_entity_connection: 10</a:t>
            </a:r>
            <a:br>
              <a:rPr lang="en" sz="1400"/>
            </a:br>
            <a:r>
              <a:rPr lang="en" sz="1400"/>
              <a:t>	num_train_text_class: 40-600</a:t>
            </a:r>
            <a:endParaRPr sz="1400"/>
          </a:p>
        </p:txBody>
      </p:sp>
      <p:sp>
        <p:nvSpPr>
          <p:cNvPr id="391" name="Google Shape;391;p27"/>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8"/>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Process of Building Graph</a:t>
            </a:r>
            <a:endParaRPr/>
          </a:p>
        </p:txBody>
      </p:sp>
      <p:pic>
        <p:nvPicPr>
          <p:cNvPr id="397" name="Google Shape;397;p28"/>
          <p:cNvPicPr preferRelativeResize="0"/>
          <p:nvPr/>
        </p:nvPicPr>
        <p:blipFill>
          <a:blip r:embed="rId3">
            <a:alphaModFix/>
          </a:blip>
          <a:stretch>
            <a:fillRect/>
          </a:stretch>
        </p:blipFill>
        <p:spPr>
          <a:xfrm>
            <a:off x="2015700" y="1197175"/>
            <a:ext cx="4659950" cy="3902875"/>
          </a:xfrm>
          <a:prstGeom prst="rect">
            <a:avLst/>
          </a:prstGeom>
          <a:noFill/>
          <a:ln>
            <a:noFill/>
          </a:ln>
        </p:spPr>
      </p:pic>
      <p:sp>
        <p:nvSpPr>
          <p:cNvPr id="398" name="Google Shape;398;p28"/>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9"/>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Feature Representation</a:t>
            </a:r>
            <a:endParaRPr/>
          </a:p>
        </p:txBody>
      </p:sp>
      <p:sp>
        <p:nvSpPr>
          <p:cNvPr id="404" name="Google Shape;404;p29"/>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Building the entity node features</a:t>
            </a:r>
            <a:br>
              <a:rPr lang="en" sz="1400"/>
            </a:br>
            <a:r>
              <a:rPr lang="en" sz="1400"/>
              <a:t>Pre-trained word2vec model is used to get the word embedding of the entity</a:t>
            </a:r>
            <a:br>
              <a:rPr lang="en" sz="1400"/>
            </a:br>
            <a:endParaRPr sz="1400"/>
          </a:p>
          <a:p>
            <a:pPr indent="-317500" lvl="0" marL="457200" rtl="0" algn="l">
              <a:spcBef>
                <a:spcPts val="0"/>
              </a:spcBef>
              <a:spcAft>
                <a:spcPts val="0"/>
              </a:spcAft>
              <a:buSzPts val="1400"/>
              <a:buChar char="-"/>
            </a:pPr>
            <a:r>
              <a:rPr lang="en" sz="1400"/>
              <a:t>Build Text node features</a:t>
            </a:r>
            <a:br>
              <a:rPr lang="en" sz="1400"/>
            </a:br>
            <a:r>
              <a:rPr lang="en" sz="1400"/>
              <a:t>Sentence embeddings is generated by averaging the word embedding of each word in the text</a:t>
            </a:r>
            <a:br>
              <a:rPr lang="en" sz="1400"/>
            </a:br>
            <a:endParaRPr sz="1400"/>
          </a:p>
          <a:p>
            <a:pPr indent="-317500" lvl="0" marL="457200" rtl="0" algn="l">
              <a:spcBef>
                <a:spcPts val="0"/>
              </a:spcBef>
              <a:spcAft>
                <a:spcPts val="0"/>
              </a:spcAft>
              <a:buSzPts val="1400"/>
              <a:buChar char="-"/>
            </a:pPr>
            <a:r>
              <a:rPr lang="en" sz="1400"/>
              <a:t>Build Topic node features (LDA components), Obtained from topic model</a:t>
            </a:r>
            <a:br>
              <a:rPr lang="en" sz="1400"/>
            </a:br>
            <a:endParaRPr sz="1400"/>
          </a:p>
          <a:p>
            <a:pPr indent="-317500" lvl="0" marL="457200" rtl="0" algn="l">
              <a:spcBef>
                <a:spcPts val="0"/>
              </a:spcBef>
              <a:spcAft>
                <a:spcPts val="0"/>
              </a:spcAft>
              <a:buSzPts val="1400"/>
              <a:buChar char="-"/>
            </a:pPr>
            <a:r>
              <a:rPr lang="en" sz="1400"/>
              <a:t>Basic preprocessing used</a:t>
            </a:r>
            <a:endParaRPr sz="1400"/>
          </a:p>
          <a:p>
            <a:pPr indent="-304800" lvl="1" marL="914400" rtl="0" algn="l">
              <a:spcBef>
                <a:spcPts val="0"/>
              </a:spcBef>
              <a:spcAft>
                <a:spcPts val="0"/>
              </a:spcAft>
              <a:buSzPts val="1200"/>
              <a:buChar char="-"/>
            </a:pPr>
            <a:r>
              <a:rPr lang="en" sz="1200"/>
              <a:t>Tokenize</a:t>
            </a:r>
            <a:endParaRPr sz="1200"/>
          </a:p>
          <a:p>
            <a:pPr indent="-304800" lvl="1" marL="914400" rtl="0" algn="l">
              <a:spcBef>
                <a:spcPts val="0"/>
              </a:spcBef>
              <a:spcAft>
                <a:spcPts val="0"/>
              </a:spcAft>
              <a:buSzPts val="1200"/>
              <a:buChar char="-"/>
            </a:pPr>
            <a:r>
              <a:rPr lang="en" sz="1200"/>
              <a:t>Lowercase</a:t>
            </a:r>
            <a:endParaRPr sz="1200"/>
          </a:p>
          <a:p>
            <a:pPr indent="-304800" lvl="1" marL="914400" rtl="0" algn="l">
              <a:spcBef>
                <a:spcPts val="0"/>
              </a:spcBef>
              <a:spcAft>
                <a:spcPts val="0"/>
              </a:spcAft>
              <a:buSzPts val="1200"/>
              <a:buChar char="-"/>
            </a:pPr>
            <a:r>
              <a:rPr lang="en" sz="1200"/>
              <a:t>remove non-alpha characters</a:t>
            </a:r>
            <a:endParaRPr sz="1200"/>
          </a:p>
          <a:p>
            <a:pPr indent="-304800" lvl="1" marL="914400" rtl="0" algn="l">
              <a:spcBef>
                <a:spcPts val="0"/>
              </a:spcBef>
              <a:spcAft>
                <a:spcPts val="0"/>
              </a:spcAft>
              <a:buSzPts val="1200"/>
              <a:buChar char="-"/>
            </a:pPr>
            <a:r>
              <a:rPr lang="en" sz="1200"/>
              <a:t>remove stop words</a:t>
            </a:r>
            <a:endParaRPr sz="1200"/>
          </a:p>
          <a:p>
            <a:pPr indent="-304800" lvl="1" marL="914400" rtl="0" algn="l">
              <a:spcBef>
                <a:spcPts val="0"/>
              </a:spcBef>
              <a:spcAft>
                <a:spcPts val="0"/>
              </a:spcAft>
              <a:buSzPts val="1200"/>
              <a:buChar char="-"/>
            </a:pPr>
            <a:r>
              <a:rPr lang="en" sz="1200"/>
              <a:t>word that repeats less than 5 (whole data)</a:t>
            </a:r>
            <a:endParaRPr sz="1200"/>
          </a:p>
          <a:p>
            <a:pPr indent="0" lvl="0" marL="457200" rtl="0" algn="l">
              <a:spcBef>
                <a:spcPts val="1600"/>
              </a:spcBef>
              <a:spcAft>
                <a:spcPts val="1600"/>
              </a:spcAft>
              <a:buNone/>
            </a:pPr>
            <a:r>
              <a:t/>
            </a:r>
            <a:endParaRPr sz="1400"/>
          </a:p>
        </p:txBody>
      </p:sp>
      <p:sp>
        <p:nvSpPr>
          <p:cNvPr id="405" name="Google Shape;405;p29"/>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0"/>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 Graph Pruning (Overall Diagram)</a:t>
            </a:r>
            <a:endParaRPr/>
          </a:p>
        </p:txBody>
      </p:sp>
      <p:sp>
        <p:nvSpPr>
          <p:cNvPr id="411" name="Google Shape;411;p30"/>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12" name="Google Shape;412;p30"/>
          <p:cNvPicPr preferRelativeResize="0"/>
          <p:nvPr/>
        </p:nvPicPr>
        <p:blipFill>
          <a:blip r:embed="rId3">
            <a:alphaModFix/>
          </a:blip>
          <a:stretch>
            <a:fillRect/>
          </a:stretch>
        </p:blipFill>
        <p:spPr>
          <a:xfrm>
            <a:off x="1146013" y="1122548"/>
            <a:ext cx="7346083" cy="37915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1"/>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Training </a:t>
            </a:r>
            <a:endParaRPr/>
          </a:p>
        </p:txBody>
      </p:sp>
      <p:sp>
        <p:nvSpPr>
          <p:cNvPr id="418" name="Google Shape;418;p31"/>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u="sng"/>
              <a:t>HGAT model</a:t>
            </a:r>
            <a:br>
              <a:rPr lang="en" sz="1400" u="sng"/>
            </a:br>
            <a:r>
              <a:rPr lang="en" sz="1400"/>
              <a:t>HIdden Unit = 512</a:t>
            </a:r>
            <a:br>
              <a:rPr lang="en" sz="1400"/>
            </a:br>
            <a:r>
              <a:rPr lang="en" sz="1400"/>
              <a:t>Class = 4</a:t>
            </a:r>
            <a:br>
              <a:rPr lang="en" sz="1400"/>
            </a:br>
            <a:r>
              <a:rPr lang="en" sz="1400"/>
              <a:t>Dropout Rate (DP) = 0.95</a:t>
            </a:r>
            <a:br>
              <a:rPr lang="en" sz="1400"/>
            </a:br>
            <a:r>
              <a:rPr lang="en" sz="1400"/>
              <a:t>Gamma = 0.1</a:t>
            </a:r>
            <a:endParaRPr sz="1400"/>
          </a:p>
          <a:p>
            <a:pPr indent="0" lvl="0" marL="0" rtl="0" algn="l">
              <a:spcBef>
                <a:spcPts val="1600"/>
              </a:spcBef>
              <a:spcAft>
                <a:spcPts val="0"/>
              </a:spcAft>
              <a:buNone/>
            </a:pPr>
            <a:r>
              <a:rPr lang="en" sz="1400" u="sng"/>
              <a:t>Adam Optimizer</a:t>
            </a:r>
            <a:br>
              <a:rPr lang="en" sz="1400"/>
            </a:br>
            <a:r>
              <a:rPr lang="en" sz="1400"/>
              <a:t>Learning Rate (LR) = 0.005</a:t>
            </a:r>
            <a:br>
              <a:rPr lang="en" sz="1400"/>
            </a:br>
            <a:r>
              <a:rPr lang="en" sz="1400"/>
              <a:t>Weight Decay (WD) = 5e - 8</a:t>
            </a:r>
            <a:br>
              <a:rPr lang="en" sz="1400"/>
            </a:br>
            <a:br>
              <a:rPr lang="en" sz="1400"/>
            </a:br>
            <a:br>
              <a:rPr lang="en" sz="1400"/>
            </a:br>
            <a:r>
              <a:rPr lang="en" sz="1400"/>
              <a:t>Epoch = 300</a:t>
            </a:r>
            <a:br>
              <a:rPr lang="en" sz="1400"/>
            </a:br>
            <a:r>
              <a:rPr lang="en" sz="1400"/>
              <a:t>Seed = 42</a:t>
            </a:r>
            <a:endParaRPr sz="1400"/>
          </a:p>
          <a:p>
            <a:pPr indent="0" lvl="0" marL="0" rtl="0" algn="l">
              <a:spcBef>
                <a:spcPts val="1600"/>
              </a:spcBef>
              <a:spcAft>
                <a:spcPts val="0"/>
              </a:spcAft>
              <a:buNone/>
            </a:pPr>
            <a:r>
              <a:t/>
            </a:r>
            <a:endParaRPr sz="1400"/>
          </a:p>
          <a:p>
            <a:pPr indent="0" lvl="0" marL="0" rtl="0" algn="l">
              <a:spcBef>
                <a:spcPts val="1600"/>
              </a:spcBef>
              <a:spcAft>
                <a:spcPts val="1600"/>
              </a:spcAft>
              <a:buNone/>
            </a:pPr>
            <a:r>
              <a:t/>
            </a:r>
            <a:endParaRPr sz="1400"/>
          </a:p>
        </p:txBody>
      </p:sp>
      <p:sp>
        <p:nvSpPr>
          <p:cNvPr id="419" name="Google Shape;419;p31"/>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2"/>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HGAT model</a:t>
            </a:r>
            <a:endParaRPr/>
          </a:p>
        </p:txBody>
      </p:sp>
      <p:sp>
        <p:nvSpPr>
          <p:cNvPr id="425" name="Google Shape;425;p32"/>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26" name="Google Shape;426;p32"/>
          <p:cNvPicPr preferRelativeResize="0"/>
          <p:nvPr/>
        </p:nvPicPr>
        <p:blipFill>
          <a:blip r:embed="rId3">
            <a:alphaModFix/>
          </a:blip>
          <a:stretch>
            <a:fillRect/>
          </a:stretch>
        </p:blipFill>
        <p:spPr>
          <a:xfrm>
            <a:off x="381000" y="1016425"/>
            <a:ext cx="8656775" cy="3894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3"/>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Attention in HGAT</a:t>
            </a:r>
            <a:endParaRPr/>
          </a:p>
        </p:txBody>
      </p:sp>
      <p:sp>
        <p:nvSpPr>
          <p:cNvPr id="432" name="Google Shape;432;p33"/>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Dual Attention Layer</a:t>
            </a:r>
            <a:br>
              <a:rPr lang="en" sz="1400"/>
            </a:br>
            <a:endParaRPr sz="1400"/>
          </a:p>
          <a:p>
            <a:pPr indent="-317500" lvl="0" marL="457200" rtl="0" algn="l">
              <a:spcBef>
                <a:spcPts val="0"/>
              </a:spcBef>
              <a:spcAft>
                <a:spcPts val="0"/>
              </a:spcAft>
              <a:buSzPts val="1400"/>
              <a:buChar char="-"/>
            </a:pPr>
            <a:r>
              <a:rPr lang="en" sz="1400"/>
              <a:t>Type level attention and Node Level attention</a:t>
            </a:r>
            <a:br>
              <a:rPr lang="en" sz="1400"/>
            </a:br>
            <a:endParaRPr sz="1400"/>
          </a:p>
          <a:p>
            <a:pPr indent="-317500" lvl="0" marL="457200" rtl="0" algn="l">
              <a:spcBef>
                <a:spcPts val="0"/>
              </a:spcBef>
              <a:spcAft>
                <a:spcPts val="0"/>
              </a:spcAft>
              <a:buSzPts val="1400"/>
              <a:buChar char="-"/>
            </a:pPr>
            <a:r>
              <a:rPr lang="en" sz="1400"/>
              <a:t>Type Level concentrate on which node to give more attention based on its type</a:t>
            </a:r>
            <a:br>
              <a:rPr lang="en" sz="1400"/>
            </a:br>
            <a:endParaRPr sz="1400"/>
          </a:p>
          <a:p>
            <a:pPr indent="-317500" lvl="0" marL="457200" rtl="0" algn="l">
              <a:spcBef>
                <a:spcPts val="0"/>
              </a:spcBef>
              <a:spcAft>
                <a:spcPts val="0"/>
              </a:spcAft>
              <a:buSzPts val="1400"/>
              <a:buChar char="-"/>
            </a:pPr>
            <a:r>
              <a:rPr lang="en" sz="1400"/>
              <a:t>Node Level attention is used to focus on attention in individual node</a:t>
            </a:r>
            <a:br>
              <a:rPr lang="en" sz="1400"/>
            </a:br>
            <a:br>
              <a:rPr lang="en" sz="1400"/>
            </a:br>
            <a:br>
              <a:rPr lang="en" sz="1400"/>
            </a:br>
            <a:br>
              <a:rPr lang="en" sz="1400"/>
            </a:br>
            <a:br>
              <a:rPr lang="en" sz="1400"/>
            </a:br>
            <a:r>
              <a:rPr lang="en" sz="1400"/>
              <a:t>𝜶</a:t>
            </a:r>
            <a:r>
              <a:rPr baseline="-25000" lang="en" sz="1400"/>
              <a:t>T</a:t>
            </a:r>
            <a:r>
              <a:rPr lang="en" sz="1400"/>
              <a:t> is the type level attention which is then passed through softmax layer </a:t>
            </a:r>
            <a:endParaRPr sz="1400"/>
          </a:p>
          <a:p>
            <a:pPr indent="0" lvl="0" marL="0" rtl="0" algn="l">
              <a:spcBef>
                <a:spcPts val="1600"/>
              </a:spcBef>
              <a:spcAft>
                <a:spcPts val="1600"/>
              </a:spcAft>
              <a:buNone/>
            </a:pPr>
            <a:r>
              <a:t/>
            </a:r>
            <a:endParaRPr sz="1400"/>
          </a:p>
        </p:txBody>
      </p:sp>
      <p:sp>
        <p:nvSpPr>
          <p:cNvPr id="433" name="Google Shape;433;p33"/>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34" name="Google Shape;434;p33"/>
          <p:cNvPicPr preferRelativeResize="0"/>
          <p:nvPr/>
        </p:nvPicPr>
        <p:blipFill>
          <a:blip r:embed="rId3">
            <a:alphaModFix/>
          </a:blip>
          <a:stretch>
            <a:fillRect/>
          </a:stretch>
        </p:blipFill>
        <p:spPr>
          <a:xfrm>
            <a:off x="1980300" y="3080621"/>
            <a:ext cx="2881950" cy="683275"/>
          </a:xfrm>
          <a:prstGeom prst="rect">
            <a:avLst/>
          </a:prstGeom>
          <a:noFill/>
          <a:ln>
            <a:noFill/>
          </a:ln>
        </p:spPr>
      </p:pic>
      <p:pic>
        <p:nvPicPr>
          <p:cNvPr id="435" name="Google Shape;435;p33"/>
          <p:cNvPicPr preferRelativeResize="0"/>
          <p:nvPr/>
        </p:nvPicPr>
        <p:blipFill>
          <a:blip r:embed="rId4">
            <a:alphaModFix/>
          </a:blip>
          <a:stretch>
            <a:fillRect/>
          </a:stretch>
        </p:blipFill>
        <p:spPr>
          <a:xfrm>
            <a:off x="5095175" y="3045150"/>
            <a:ext cx="2262725" cy="754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4"/>
          <p:cNvSpPr txBox="1"/>
          <p:nvPr>
            <p:ph idx="4294967295" type="title"/>
          </p:nvPr>
        </p:nvSpPr>
        <p:spPr>
          <a:xfrm>
            <a:off x="926950" y="418525"/>
            <a:ext cx="7030500" cy="56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Multi-head Attention Network</a:t>
            </a:r>
            <a:endParaRPr/>
          </a:p>
        </p:txBody>
      </p:sp>
      <p:pic>
        <p:nvPicPr>
          <p:cNvPr id="441" name="Google Shape;441;p34"/>
          <p:cNvPicPr preferRelativeResize="0"/>
          <p:nvPr/>
        </p:nvPicPr>
        <p:blipFill rotWithShape="1">
          <a:blip r:embed="rId3">
            <a:alphaModFix/>
          </a:blip>
          <a:srcRect b="3929" l="0" r="0" t="0"/>
          <a:stretch/>
        </p:blipFill>
        <p:spPr>
          <a:xfrm>
            <a:off x="2343325" y="1111950"/>
            <a:ext cx="4274199" cy="3702226"/>
          </a:xfrm>
          <a:prstGeom prst="rect">
            <a:avLst/>
          </a:prstGeom>
          <a:noFill/>
          <a:ln>
            <a:noFill/>
          </a:ln>
        </p:spPr>
      </p:pic>
      <p:sp>
        <p:nvSpPr>
          <p:cNvPr id="442" name="Google Shape;442;p34"/>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43" name="Google Shape;443;p34"/>
          <p:cNvPicPr preferRelativeResize="0"/>
          <p:nvPr/>
        </p:nvPicPr>
        <p:blipFill>
          <a:blip r:embed="rId4">
            <a:alphaModFix/>
          </a:blip>
          <a:stretch>
            <a:fillRect/>
          </a:stretch>
        </p:blipFill>
        <p:spPr>
          <a:xfrm>
            <a:off x="4524100" y="1366922"/>
            <a:ext cx="4109500" cy="482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5"/>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9" name="Google Shape;449;p35"/>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pic>
        <p:nvPicPr>
          <p:cNvPr id="450" name="Google Shape;450;p35"/>
          <p:cNvPicPr preferRelativeResize="0"/>
          <p:nvPr/>
        </p:nvPicPr>
        <p:blipFill>
          <a:blip r:embed="rId3">
            <a:alphaModFix/>
          </a:blip>
          <a:stretch>
            <a:fillRect/>
          </a:stretch>
        </p:blipFill>
        <p:spPr>
          <a:xfrm>
            <a:off x="1303800" y="1317650"/>
            <a:ext cx="2895600" cy="2171700"/>
          </a:xfrm>
          <a:prstGeom prst="rect">
            <a:avLst/>
          </a:prstGeom>
          <a:noFill/>
          <a:ln>
            <a:noFill/>
          </a:ln>
        </p:spPr>
      </p:pic>
      <p:pic>
        <p:nvPicPr>
          <p:cNvPr id="451" name="Google Shape;451;p35"/>
          <p:cNvPicPr preferRelativeResize="0"/>
          <p:nvPr/>
        </p:nvPicPr>
        <p:blipFill>
          <a:blip r:embed="rId4">
            <a:alphaModFix/>
          </a:blip>
          <a:stretch>
            <a:fillRect/>
          </a:stretch>
        </p:blipFill>
        <p:spPr>
          <a:xfrm>
            <a:off x="4686400" y="1289075"/>
            <a:ext cx="2895600" cy="2171700"/>
          </a:xfrm>
          <a:prstGeom prst="rect">
            <a:avLst/>
          </a:prstGeom>
          <a:noFill/>
          <a:ln>
            <a:noFill/>
          </a:ln>
        </p:spPr>
      </p:pic>
      <p:sp>
        <p:nvSpPr>
          <p:cNvPr id="452" name="Google Shape;452;p35"/>
          <p:cNvSpPr txBox="1"/>
          <p:nvPr/>
        </p:nvSpPr>
        <p:spPr>
          <a:xfrm>
            <a:off x="2675250" y="3702675"/>
            <a:ext cx="428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a:ea typeface="Nunito"/>
                <a:cs typeface="Nunito"/>
                <a:sym typeface="Nunito"/>
              </a:rPr>
              <a:t>Fig: Accuracy Curve and Loss Curve</a:t>
            </a:r>
            <a:endParaRPr>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6"/>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Comparison table</a:t>
            </a:r>
            <a:endParaRPr/>
          </a:p>
        </p:txBody>
      </p:sp>
      <p:sp>
        <p:nvSpPr>
          <p:cNvPr id="458" name="Google Shape;458;p36"/>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59" name="Google Shape;459;p36"/>
          <p:cNvPicPr preferRelativeResize="0"/>
          <p:nvPr/>
        </p:nvPicPr>
        <p:blipFill>
          <a:blip r:embed="rId3">
            <a:alphaModFix/>
          </a:blip>
          <a:stretch>
            <a:fillRect/>
          </a:stretch>
        </p:blipFill>
        <p:spPr>
          <a:xfrm>
            <a:off x="766925" y="1225225"/>
            <a:ext cx="7610150" cy="1263150"/>
          </a:xfrm>
          <a:prstGeom prst="rect">
            <a:avLst/>
          </a:prstGeom>
          <a:noFill/>
          <a:ln>
            <a:noFill/>
          </a:ln>
        </p:spPr>
      </p:pic>
      <p:pic>
        <p:nvPicPr>
          <p:cNvPr id="460" name="Google Shape;460;p36"/>
          <p:cNvPicPr preferRelativeResize="0"/>
          <p:nvPr/>
        </p:nvPicPr>
        <p:blipFill>
          <a:blip r:embed="rId4">
            <a:alphaModFix/>
          </a:blip>
          <a:stretch>
            <a:fillRect/>
          </a:stretch>
        </p:blipFill>
        <p:spPr>
          <a:xfrm>
            <a:off x="1412325" y="2666427"/>
            <a:ext cx="6605600" cy="2167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7"/>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Remaining </a:t>
            </a:r>
            <a:endParaRPr/>
          </a:p>
        </p:txBody>
      </p:sp>
      <p:sp>
        <p:nvSpPr>
          <p:cNvPr id="466" name="Google Shape;466;p37"/>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	Optimization of model by parameter tuning</a:t>
            </a:r>
            <a:endParaRPr sz="1400"/>
          </a:p>
          <a:p>
            <a:pPr indent="0" lvl="0" marL="0" rtl="0" algn="l">
              <a:spcBef>
                <a:spcPts val="1600"/>
              </a:spcBef>
              <a:spcAft>
                <a:spcPts val="0"/>
              </a:spcAft>
              <a:buNone/>
            </a:pPr>
            <a:r>
              <a:rPr lang="en" sz="1400"/>
              <a:t>-	Custom Word2vec training with available data to observer the performance</a:t>
            </a:r>
            <a:endParaRPr sz="1400"/>
          </a:p>
          <a:p>
            <a:pPr indent="0" lvl="0" marL="0" rtl="0" algn="l">
              <a:spcBef>
                <a:spcPts val="1600"/>
              </a:spcBef>
              <a:spcAft>
                <a:spcPts val="0"/>
              </a:spcAft>
              <a:buNone/>
            </a:pPr>
            <a:r>
              <a:rPr lang="en" sz="1400"/>
              <a:t>-	Testing with other text datasets (another news dataset with more classes)</a:t>
            </a:r>
            <a:endParaRPr sz="1400"/>
          </a:p>
          <a:p>
            <a:pPr indent="0" lvl="0" marL="0" rtl="0" algn="l">
              <a:spcBef>
                <a:spcPts val="1600"/>
              </a:spcBef>
              <a:spcAft>
                <a:spcPts val="0"/>
              </a:spcAft>
              <a:buNone/>
            </a:pPr>
            <a:r>
              <a:rPr lang="en" sz="1400"/>
              <a:t>-	Application of Doc2Vec model in text embeddings</a:t>
            </a:r>
            <a:endParaRPr sz="1400"/>
          </a:p>
          <a:p>
            <a:pPr indent="0" lvl="0" marL="0" rtl="0" algn="l">
              <a:spcBef>
                <a:spcPts val="1600"/>
              </a:spcBef>
              <a:spcAft>
                <a:spcPts val="0"/>
              </a:spcAft>
              <a:buNone/>
            </a:pPr>
            <a:r>
              <a:rPr lang="en" sz="1400"/>
              <a:t>-	Improvement and update of documentation</a:t>
            </a:r>
            <a:endParaRPr sz="1400"/>
          </a:p>
          <a:p>
            <a:pPr indent="0" lvl="0" marL="0" rtl="0" algn="l">
              <a:spcBef>
                <a:spcPts val="1600"/>
              </a:spcBef>
              <a:spcAft>
                <a:spcPts val="1600"/>
              </a:spcAft>
              <a:buNone/>
            </a:pPr>
            <a:r>
              <a:rPr lang="en" sz="1400"/>
              <a:t>-	Variational Autoencoders for topic modeling</a:t>
            </a:r>
            <a:endParaRPr sz="1400"/>
          </a:p>
        </p:txBody>
      </p:sp>
      <p:sp>
        <p:nvSpPr>
          <p:cNvPr id="467" name="Google Shape;467;p37"/>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8"/>
          <p:cNvSpPr txBox="1"/>
          <p:nvPr>
            <p:ph idx="4294967295" type="title"/>
          </p:nvPr>
        </p:nvSpPr>
        <p:spPr>
          <a:xfrm>
            <a:off x="1056750" y="220748"/>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Gantt Chart</a:t>
            </a:r>
            <a:endParaRPr/>
          </a:p>
        </p:txBody>
      </p:sp>
      <p:sp>
        <p:nvSpPr>
          <p:cNvPr id="473" name="Google Shape;473;p38"/>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74" name="Google Shape;474;p38"/>
          <p:cNvPicPr preferRelativeResize="0"/>
          <p:nvPr/>
        </p:nvPicPr>
        <p:blipFill>
          <a:blip r:embed="rId3">
            <a:alphaModFix/>
          </a:blip>
          <a:stretch>
            <a:fillRect/>
          </a:stretch>
        </p:blipFill>
        <p:spPr>
          <a:xfrm>
            <a:off x="1828800" y="971550"/>
            <a:ext cx="5486400" cy="3200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9"/>
          <p:cNvSpPr txBox="1"/>
          <p:nvPr>
            <p:ph type="title"/>
          </p:nvPr>
        </p:nvSpPr>
        <p:spPr>
          <a:xfrm>
            <a:off x="1303800" y="460373"/>
            <a:ext cx="7030500" cy="5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480" name="Google Shape;480;p39"/>
          <p:cNvSpPr txBox="1"/>
          <p:nvPr>
            <p:ph idx="1" type="body"/>
          </p:nvPr>
        </p:nvSpPr>
        <p:spPr>
          <a:xfrm>
            <a:off x="1303800" y="1247600"/>
            <a:ext cx="7030500" cy="36282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 sz="1200">
                <a:solidFill>
                  <a:srgbClr val="000000"/>
                </a:solidFill>
                <a:latin typeface="Times New Roman"/>
                <a:ea typeface="Times New Roman"/>
                <a:cs typeface="Times New Roman"/>
                <a:sym typeface="Times New Roman"/>
              </a:rPr>
              <a:t>[1] Petar Velickovi ˇ c, Guillem Cucurull, Arantxa Casanova, Adriana Romero, Pietro ´ Liò, and Yoshua Bengio. 2018. “Graph Attention Networks”. ICLR (2018).</a:t>
            </a:r>
            <a:endParaRPr sz="120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n" sz="1200">
                <a:solidFill>
                  <a:srgbClr val="000000"/>
                </a:solidFill>
                <a:latin typeface="Times New Roman"/>
                <a:ea typeface="Times New Roman"/>
                <a:cs typeface="Times New Roman"/>
                <a:sym typeface="Times New Roman"/>
              </a:rPr>
              <a:t>[2] Xiao Wang, Hou Ye Ji, Chuan Shi, Bai Wang, Peng Cui, P. Yu, and Yanfang Ye. 2019. “Heterogeneous graph attention network”. In WWW.</a:t>
            </a:r>
            <a:endParaRPr sz="120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n" sz="1200">
                <a:solidFill>
                  <a:srgbClr val="000000"/>
                </a:solidFill>
                <a:latin typeface="Times New Roman"/>
                <a:ea typeface="Times New Roman"/>
                <a:cs typeface="Times New Roman"/>
                <a:sym typeface="Times New Roman"/>
              </a:rPr>
              <a:t>[3] H. Linmei, T. Yang, C. Shi, H. Ji, and X. Li. 2019. “Heterogeneous graph attention networks for semi-supervised short text classification”. EMNLP,</a:t>
            </a:r>
            <a:endParaRPr sz="110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n" sz="1200">
                <a:solidFill>
                  <a:srgbClr val="000000"/>
                </a:solidFill>
                <a:latin typeface="Times New Roman"/>
                <a:ea typeface="Times New Roman"/>
                <a:cs typeface="Times New Roman"/>
                <a:sym typeface="Times New Roman"/>
              </a:rPr>
              <a:t>[4] Cao M., Ma X., Xu M., Wang C. 2019. “Heterogeneous Information Network Embedding with Meta-path Based Graph Attention Networks”. ICANN, Lecture Notes in Computer Science, vol 11731. Springer, Cham.</a:t>
            </a:r>
            <a:endParaRPr sz="120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n" sz="1200">
                <a:solidFill>
                  <a:srgbClr val="000000"/>
                </a:solidFill>
                <a:latin typeface="Times New Roman"/>
                <a:ea typeface="Times New Roman"/>
                <a:cs typeface="Times New Roman"/>
                <a:sym typeface="Times New Roman"/>
              </a:rPr>
              <a:t>[5] Ashish Vaswani, Noam Shazeer, Niki Parmar, Jakob Uszkoreit, Llion Jones, Aidan N. Gomez, Lukasz Kaiser, and Illia Polosukhin. 2017. “Attention is All you Need”. In NIPS. 5998–6008.</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1600"/>
              </a:spcAft>
              <a:buNone/>
            </a:pPr>
            <a:r>
              <a:rPr lang="en"/>
              <a:t>…..</a:t>
            </a:r>
            <a:endParaRPr/>
          </a:p>
        </p:txBody>
      </p:sp>
      <p:sp>
        <p:nvSpPr>
          <p:cNvPr id="481" name="Google Shape;481;p39"/>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0"/>
          <p:cNvSpPr txBox="1"/>
          <p:nvPr>
            <p:ph type="title"/>
          </p:nvPr>
        </p:nvSpPr>
        <p:spPr>
          <a:xfrm>
            <a:off x="1388625" y="772725"/>
            <a:ext cx="6366900" cy="186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000"/>
              <a:t>Thank You</a:t>
            </a:r>
            <a:endParaRPr sz="6000"/>
          </a:p>
        </p:txBody>
      </p:sp>
      <p:sp>
        <p:nvSpPr>
          <p:cNvPr id="487" name="Google Shape;487;p40"/>
          <p:cNvSpPr txBox="1"/>
          <p:nvPr>
            <p:ph idx="12" type="sldNum"/>
          </p:nvPr>
        </p:nvSpPr>
        <p:spPr>
          <a:xfrm>
            <a:off x="8451046" y="4736976"/>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